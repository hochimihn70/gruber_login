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C23B2AD-5B3B-44DF-A6F3-FE9DA0ED4166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7pPr>
          </a:lstStyle>
          <a:p>
            <a:pPr marL="228600" indent="-228600" algn="l" defTabSz="914400"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the outline text format</a:t>
            </a:r>
            <a:endParaRPr lang="en-US" sz="18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864000" lvl="1" indent="-324000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296000" lvl="2" indent="-288000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728000" lvl="3" indent="-216000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160000" lvl="4" indent="-216000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Outline Level</a:t>
            </a:r>
            <a:endParaRPr lang="en-US" sz="16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Sixth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Seventh Outline Level</a:t>
            </a:r>
            <a:endParaRPr lang="en-US" sz="2000" b="0" u="none" strike="noStrike">
              <a:solidFill>
                <a:schemeClr val="lt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</a:t>
            </a: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bearbeiten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E58BF80-4D63-46CA-B36D-6EE69A94C1B7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652960" y="937440"/>
            <a:ext cx="1298160" cy="498312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vert="eaVert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2231280" y="937440"/>
            <a:ext cx="6198120" cy="49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EA6C7F9-E391-4174-AE0A-75A80893F554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05F359D-BBB7-44B2-8556-527F52FF7ED6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695320" y="4352400"/>
            <a:ext cx="6801120" cy="12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lt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AE61BEE-CC8A-4DAD-9D44-F5F928977754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581840" y="2638080"/>
            <a:ext cx="42714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338160" y="2638080"/>
            <a:ext cx="426996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E05A430-6D6A-4A00-9805-97110715BEBB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158328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900" b="0" u="none" spc="99" strike="noStrike" cap="all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900" b="0" u="none" spc="99" strike="noStrike" cap="all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900" b="0" u="none" spc="99" strike="noStrike" cap="all">
              <a:solidFill>
                <a:schemeClr val="accent2">
                  <a:lumMod val="7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583280" y="3143160"/>
            <a:ext cx="4269960" cy="259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pc="99" strike="noStrike" cap="all">
              <a:solidFill>
                <a:schemeClr val="accent2">
                  <a:lumMod val="7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338160" y="3143160"/>
            <a:ext cx="4253040" cy="2596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800" b="0" u="none" spc="99" strike="noStrike" cap="all">
              <a:solidFill>
                <a:schemeClr val="accent2">
                  <a:lumMod val="7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33816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900" b="0" u="none" spc="99" strike="noStrike" cap="all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900" b="0" u="none" spc="99" strike="noStrike" cap="all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900" b="0" u="none" spc="99" strike="noStrike" cap="all">
              <a:solidFill>
                <a:schemeClr val="accent2">
                  <a:lumMod val="7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9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ftr" idx="20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sldNum" idx="21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7F70E33-85A2-4165-97A6-F6E62925CF38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058BFF5-2D1C-4EC0-B85C-C0B3682E5966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DFF28B3-18A1-4986-9AD1-1FC62D205108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5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04600" y="2243880"/>
            <a:ext cx="4486320" cy="114120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735960" y="804600"/>
            <a:ext cx="4815360" cy="524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9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Zweite Ebene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Dritte Ebene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Vierte Ebene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Fünfte Ebene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193643D4-6949-4697-A8A5-6B11F3B13FF0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7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08560" y="2243880"/>
            <a:ext cx="4494600" cy="1134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Mastertitelformat bearbeiten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5880" y="0"/>
            <a:ext cx="6101640" cy="6857640"/>
          </a:xfrm>
          <a:prstGeom prst="rect">
            <a:avLst/>
          </a:prstGeom>
          <a:solidFill>
            <a:schemeClr val="lt1">
              <a:lumMod val="75000"/>
            </a:schemeClr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  <a:lvl2pPr lvl="1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7pPr>
          </a:lstStyle>
          <a:p>
            <a:pPr algn="l" defTabSz="914400">
              <a:spcBef>
                <a:spcPts val="1001"/>
              </a:spcBef>
              <a:buClr>
                <a:srgbClr val="9BAFB5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  <a:p>
            <a:pPr marL="457200" lvl="1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2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371600" lvl="3" algn="l" defTabSz="914400"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828800" lvl="4" algn="l" defTabSz="914400"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Sixth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Seventh Outline Level</a:t>
            </a:r>
            <a:endParaRPr lang="en-US" sz="32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Mastertextformat bearbeiten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&lt;date/time&gt;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F840C52-D7E0-44AA-B4C2-F4415AB33782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&lt;number&gt;</a:t>
            </a:fld>
            <a:endParaRPr lang="en-US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Login Project 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695320" y="4352400"/>
            <a:ext cx="6801120" cy="123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AT" sz="2000" b="0" u="none" strike="noStrike">
                <a:solidFill>
                  <a:schemeClr val="lt1">
                    <a:lumMod val="75000"/>
                    <a:lumOff val="25000"/>
                  </a:schemeClr>
                </a:solidFill>
                <a:effectLst/>
                <a:uFillTx/>
                <a:latin typeface="Gill Sans MT"/>
              </a:rPr>
              <a:t>Von Sofia Wippel, David Houman, Markus Kattner</a:t>
            </a:r>
            <a:endParaRPr lang="en-US" sz="2000" b="0" u="none" strike="noStrik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PHP Variante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Tech-Stack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1828800" y="228600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Backend: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PHP 8.3 (kein framework)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Server &amp; Betrieb: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Apache &amp; Docker Compose (app, db)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Datenbank &amp; Tools: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MariaDB &amp; PHPMailer (externe Library)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Top 3 Security Features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Kombinierbare 2FA: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Passwort, E-Mail-Code und TOTP-App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Brute-Force-Schutz: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DB-Zähler pro IP &amp; Code-Verfall nach 5 Fehlversuchen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Web-Sicherheit: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32-Byte-CSRF-Tokens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2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Verschlüsselung</a:t>
            </a:r>
            <a:endParaRPr lang="en-US" sz="2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Passwörter: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bcrypt mit Salt (password_hash, min. 12 Zeichen)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2FA-Secrets: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Verschlüsselt mit libsodium secretbox 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Signaturen &amp; Hashes: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E-Mail-Codes als HMAC, Reset-Token als SHA-256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Python Variante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6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Tech-Stack</a:t>
            </a:r>
            <a:endParaRPr lang="en-US" sz="36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Backend: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Python, FastAPI, SQLAlchemy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Frontend: 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HTML, CSS, JavaScript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Zugang: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Cloudflare Tunnel (HTTPS)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Datenbank: 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MySQL 8.4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Betrieb: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Docker Compose (db, web)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6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Top 3 Security Features</a:t>
            </a:r>
            <a:endParaRPr lang="en-US" sz="36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Flexible 2FA: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E-Mail-Code oder TOTP-App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Brute-Force-Schutz: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Rate-Limits (IP / E-Mail)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Sichere Sessions: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HttpOnly-Cookies (7 Tage) &amp; Token nur als SHA-256 in DB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6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Verschlüsselung</a:t>
            </a:r>
            <a:endParaRPr lang="en-US" sz="36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2231280" y="2638080"/>
            <a:ext cx="7729200" cy="382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Passwort-Hashing: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Argon2id (serverseitig berechnet, OWASP-Standard)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Hash-Parameter: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46 MiB RAM, 1 Durchlauf/Thread, ca. 50 ms Dauer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Salt: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Zufällig pro Hash generiert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TOTP-Secrets: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Verschlüsselt mit Fernet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lang="de-AT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Session-Tokens:</a:t>
            </a:r>
            <a:r>
              <a:rPr lang="de-AT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 In der Datenbank ausschließlich als SHA-256-Hash gespeichert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Jetzt zur Live Demo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2695320" y="4352400"/>
            <a:ext cx="6801120" cy="12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lt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AT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Danke für eure Aufmerksamkeit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2695320" y="4352400"/>
            <a:ext cx="6801120" cy="123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AT" sz="3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Fragen?</a:t>
            </a:r>
            <a:endParaRPr lang="en-US" sz="3600" b="0" u="none" strike="noStrike">
              <a:solidFill>
                <a:schemeClr val="lt1">
                  <a:lumMod val="75000"/>
                  <a:lumOff val="2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41</TotalTime>
  <Application>LibreOffice/26.2.6.3$Linux_X86_64 LibreOffice_project/620$Build-3</Application>
  <AppVersion>15.0000</AppVersion>
  <Words>233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2026-10-22T20:14:46Z</dcterms:created>
  <dc:creator>Wippel Sofia</dc:creator>
  <dc:description/>
  <dc:language>en-US</dc:language>
  <cp:lastModifiedBy/>
  <dcterms:modified xsi:type="dcterms:W3CDTF">2026-10-23T10:43:35Z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11</vt:i4>
  </property>
</Properties>
</file>